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62" r:id="rId2"/>
    <p:sldId id="256" r:id="rId3"/>
    <p:sldId id="257" r:id="rId4"/>
    <p:sldId id="258" r:id="rId5"/>
    <p:sldId id="259" r:id="rId6"/>
    <p:sldId id="260" r:id="rId7"/>
    <p:sldId id="267" r:id="rId8"/>
    <p:sldId id="268" r:id="rId9"/>
    <p:sldId id="261" r:id="rId10"/>
    <p:sldId id="264" r:id="rId11"/>
    <p:sldId id="265" r:id="rId12"/>
    <p:sldId id="266" r:id="rId13"/>
    <p:sldId id="270" r:id="rId14"/>
    <p:sldId id="271" r:id="rId15"/>
    <p:sldId id="272" r:id="rId16"/>
    <p:sldId id="273" r:id="rId17"/>
    <p:sldId id="274" r:id="rId18"/>
    <p:sldId id="269" r:id="rId19"/>
    <p:sldId id="275" r:id="rId20"/>
    <p:sldId id="276" r:id="rId2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754" autoAdjust="0"/>
    <p:restoredTop sz="94660"/>
  </p:normalViewPr>
  <p:slideViewPr>
    <p:cSldViewPr snapToGrid="0">
      <p:cViewPr varScale="1">
        <p:scale>
          <a:sx n="86" d="100"/>
          <a:sy n="86" d="100"/>
        </p:scale>
        <p:origin x="103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B3903C-59CF-4BD6-A640-F3A581C2F9FA}" type="datetimeFigureOut">
              <a:rPr lang="ru-RU" smtClean="0"/>
              <a:t>06.12.2022</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49863-680C-4705-BA6A-FEAFA9B0A775}" type="slidenum">
              <a:rPr lang="ru-RU" smtClean="0"/>
              <a:t>‹#›</a:t>
            </a:fld>
            <a:endParaRPr lang="ru-RU"/>
          </a:p>
        </p:txBody>
      </p:sp>
    </p:spTree>
    <p:extLst>
      <p:ext uri="{BB962C8B-B14F-4D97-AF65-F5344CB8AC3E}">
        <p14:creationId xmlns:p14="http://schemas.microsoft.com/office/powerpoint/2010/main" val="1276557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A7435F-A4AE-4085-866B-6C2F0B4FE436}"/>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A0CB604B-E7C2-4885-8873-91129E103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D50D1364-8A27-4FF4-9DC6-F247FA3962D7}"/>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5" name="Нижний колонтитул 4">
            <a:extLst>
              <a:ext uri="{FF2B5EF4-FFF2-40B4-BE49-F238E27FC236}">
                <a16:creationId xmlns:a16="http://schemas.microsoft.com/office/drawing/2014/main" id="{BFC6FB5D-B1E0-4793-B709-361DB30DB5E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16B60EB-B7A1-4EED-9241-3078EF60E05E}"/>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1658205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A2640E-E200-43B5-974B-75E73CCF4CB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F30DA59-15E5-4884-B2EF-DB1798879E9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AC23A3F-585A-4CEC-A29B-3BEF9A33A5E3}"/>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5" name="Нижний колонтитул 4">
            <a:extLst>
              <a:ext uri="{FF2B5EF4-FFF2-40B4-BE49-F238E27FC236}">
                <a16:creationId xmlns:a16="http://schemas.microsoft.com/office/drawing/2014/main" id="{94B3BA96-A285-474F-B828-A8A9FF6D731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923491A-1B64-4E2D-A812-DDA3CC69B141}"/>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3180229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6CFD19-71C6-4E27-A46A-DA558BC8B88C}"/>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E7E56BF7-5A00-42F5-B2B6-430895B871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C8B538E7-316E-4AAD-9407-DC55C8AB67B0}"/>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5" name="Нижний колонтитул 4">
            <a:extLst>
              <a:ext uri="{FF2B5EF4-FFF2-40B4-BE49-F238E27FC236}">
                <a16:creationId xmlns:a16="http://schemas.microsoft.com/office/drawing/2014/main" id="{5E46A2B0-1EFD-432B-A72E-0567FB92811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19FAE8C-9644-4009-B55D-BA2B95BFCB8D}"/>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362535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D93C7D-0C09-4E7C-B9AB-EB01A3F8A17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309841C4-042C-48D7-B533-3DA43FB8D07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53EEC8FB-4D3B-4E6F-952C-89F7BB4C9774}"/>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549FFCAB-3EA5-4966-9D4B-FD1F40E8BAE8}"/>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6" name="Нижний колонтитул 5">
            <a:extLst>
              <a:ext uri="{FF2B5EF4-FFF2-40B4-BE49-F238E27FC236}">
                <a16:creationId xmlns:a16="http://schemas.microsoft.com/office/drawing/2014/main" id="{A8E8EE74-0CF9-43BF-8C1A-143FA1A4B4F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BDA6AA9-A185-41A9-8334-178A2EAD9D2A}"/>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2300774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42F303-2B05-4687-A925-3F152C769EC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96E94268-1011-4283-AD9B-760627525F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7F572F6E-17CF-4E2F-8D71-71377A1F18E1}"/>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711556FB-02B2-4785-B7CE-7B1DE69FAC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F9FA32D-B8F4-498B-A8AD-DD393F15F088}"/>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F6FA0BA-F21D-4C97-B3EE-389E95918165}"/>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8" name="Нижний колонтитул 7">
            <a:extLst>
              <a:ext uri="{FF2B5EF4-FFF2-40B4-BE49-F238E27FC236}">
                <a16:creationId xmlns:a16="http://schemas.microsoft.com/office/drawing/2014/main" id="{90E9F099-7458-45CA-9941-C1A7FAAC1EE0}"/>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23A3CCCC-B119-45BA-B3D8-C3537ED17C9A}"/>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1284103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E1EBE9-EC40-4B26-9EA9-D40B6D7A1AD6}"/>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65E27813-BA9F-495C-A44C-90559E59315B}"/>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4" name="Нижний колонтитул 3">
            <a:extLst>
              <a:ext uri="{FF2B5EF4-FFF2-40B4-BE49-F238E27FC236}">
                <a16:creationId xmlns:a16="http://schemas.microsoft.com/office/drawing/2014/main" id="{B2296AEE-ED49-496B-A4A6-FC1EEEFBC74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FA2DE87-FB38-46B4-A758-26D53223634B}"/>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63623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7D02D16-6AF2-4687-B80A-F411D97F2810}"/>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3" name="Нижний колонтитул 2">
            <a:extLst>
              <a:ext uri="{FF2B5EF4-FFF2-40B4-BE49-F238E27FC236}">
                <a16:creationId xmlns:a16="http://schemas.microsoft.com/office/drawing/2014/main" id="{B9CD20CC-020E-4EF3-BEFB-3B71538EA68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18A8B02B-BC62-48B4-86BC-DE59055FD28B}"/>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425855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36A312-CAEF-4FAE-96F5-AC461966CBC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6F13A0A8-99E0-4CDB-A37F-39D69C444F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8AC7AF14-E6E5-41B3-A51D-2232A6026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E909D3DE-BC4F-44FD-A348-C988696AF065}"/>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6" name="Нижний колонтитул 5">
            <a:extLst>
              <a:ext uri="{FF2B5EF4-FFF2-40B4-BE49-F238E27FC236}">
                <a16:creationId xmlns:a16="http://schemas.microsoft.com/office/drawing/2014/main" id="{D2150485-7519-46F3-9383-14A3091CF2C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81777A0-B4FB-4A7F-9372-6B8D146443DE}"/>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222507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68736E-0617-4EB6-B0D0-89FAF040C7C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ED02D0B-BB1E-4F94-BEA9-872743D10E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0B70E85-783E-4FBB-9A46-AEEB5614C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DF1DF2CB-5CF5-4854-B0E6-76EC28523785}"/>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6" name="Нижний колонтитул 5">
            <a:extLst>
              <a:ext uri="{FF2B5EF4-FFF2-40B4-BE49-F238E27FC236}">
                <a16:creationId xmlns:a16="http://schemas.microsoft.com/office/drawing/2014/main" id="{8BE7CB3E-3FD8-4D9F-AB18-E16A926CFEC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A2AE3D6-C764-4DEC-9119-35C97A35FEAC}"/>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3971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7A6F08-40A9-4E52-8D62-51C14ABAB198}"/>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355B993-673A-4E61-8526-E0FB2E4CCC0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EB1F681-2EA3-4F9E-A4DD-00CB7DB62BF1}"/>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5" name="Нижний колонтитул 4">
            <a:extLst>
              <a:ext uri="{FF2B5EF4-FFF2-40B4-BE49-F238E27FC236}">
                <a16:creationId xmlns:a16="http://schemas.microsoft.com/office/drawing/2014/main" id="{B0F5960A-1335-4DF1-BDC1-0422812F0E4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70DD46B-F23B-415F-A582-768ADEA9E156}"/>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3416167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C12D669-B9B6-4093-BB85-94A153D6F266}"/>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270762A-185C-477C-8B2D-BE2EC87BAF60}"/>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129FA92-109D-442B-83DC-99F1AFA4DF4F}"/>
              </a:ext>
            </a:extLst>
          </p:cNvPr>
          <p:cNvSpPr>
            <a:spLocks noGrp="1"/>
          </p:cNvSpPr>
          <p:nvPr>
            <p:ph type="dt" sz="half" idx="10"/>
          </p:nvPr>
        </p:nvSpPr>
        <p:spPr/>
        <p:txBody>
          <a:bodyPr/>
          <a:lstStyle/>
          <a:p>
            <a:fld id="{E2C8E480-DE33-4E54-B5D6-F7FEF84F5512}" type="datetimeFigureOut">
              <a:rPr lang="ru-RU" smtClean="0"/>
              <a:t>06.12.2022</a:t>
            </a:fld>
            <a:endParaRPr lang="ru-RU"/>
          </a:p>
        </p:txBody>
      </p:sp>
      <p:sp>
        <p:nvSpPr>
          <p:cNvPr id="5" name="Нижний колонтитул 4">
            <a:extLst>
              <a:ext uri="{FF2B5EF4-FFF2-40B4-BE49-F238E27FC236}">
                <a16:creationId xmlns:a16="http://schemas.microsoft.com/office/drawing/2014/main" id="{7B6E02A0-5C39-4334-BB14-025DE4A6E92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B24D010-82D3-4D0F-A218-DD074D3D480D}"/>
              </a:ext>
            </a:extLst>
          </p:cNvPr>
          <p:cNvSpPr>
            <a:spLocks noGrp="1"/>
          </p:cNvSpPr>
          <p:nvPr>
            <p:ph type="sldNum" sz="quarter" idx="12"/>
          </p:nvPr>
        </p:nvSpPr>
        <p:spPr/>
        <p:txBody>
          <a:bodyPr/>
          <a:lstStyle/>
          <a:p>
            <a:fld id="{EF0A355A-5BAD-42C0-BAD4-29523EF604A5}" type="slidenum">
              <a:rPr lang="ru-RU" smtClean="0"/>
              <a:t>‹#›</a:t>
            </a:fld>
            <a:endParaRPr lang="ru-RU"/>
          </a:p>
        </p:txBody>
      </p:sp>
    </p:spTree>
    <p:extLst>
      <p:ext uri="{BB962C8B-B14F-4D97-AF65-F5344CB8AC3E}">
        <p14:creationId xmlns:p14="http://schemas.microsoft.com/office/powerpoint/2010/main" val="3022943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D81E8E-7DB5-4A32-B527-0E89110C70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506747EF-5601-4B4A-9124-17B96159DD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C9AEAA1-8EB2-484A-98BD-15848F4E09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C8E480-DE33-4E54-B5D6-F7FEF84F5512}" type="datetimeFigureOut">
              <a:rPr lang="ru-RU" smtClean="0"/>
              <a:t>06.12.2022</a:t>
            </a:fld>
            <a:endParaRPr lang="ru-RU"/>
          </a:p>
        </p:txBody>
      </p:sp>
      <p:sp>
        <p:nvSpPr>
          <p:cNvPr id="5" name="Нижний колонтитул 4">
            <a:extLst>
              <a:ext uri="{FF2B5EF4-FFF2-40B4-BE49-F238E27FC236}">
                <a16:creationId xmlns:a16="http://schemas.microsoft.com/office/drawing/2014/main" id="{D0B01433-AC43-4550-A5A2-95B3D1935C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8943B75-43A0-47EA-A44F-84E2311CF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A355A-5BAD-42C0-BAD4-29523EF604A5}" type="slidenum">
              <a:rPr lang="ru-RU" smtClean="0"/>
              <a:t>‹#›</a:t>
            </a:fld>
            <a:endParaRPr lang="ru-RU"/>
          </a:p>
        </p:txBody>
      </p:sp>
    </p:spTree>
    <p:extLst>
      <p:ext uri="{BB962C8B-B14F-4D97-AF65-F5344CB8AC3E}">
        <p14:creationId xmlns:p14="http://schemas.microsoft.com/office/powerpoint/2010/main" val="661451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merriam-webster.com/dictionary/moral" TargetMode="Externa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www.britannica.com/topic/truth-philosophy-and-logic" TargetMode="External"/><Relationship Id="rId4" Type="http://schemas.openxmlformats.org/officeDocument/2006/relationships/hyperlink" Target="https://www.merriam-webster.com/dictionary/consciousnes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A61560CE-23A8-4668-A3C1-A06481B341BC}"/>
              </a:ext>
            </a:extLst>
          </p:cNvPr>
          <p:cNvPicPr>
            <a:picLocks noChangeAspect="1"/>
          </p:cNvPicPr>
          <p:nvPr/>
        </p:nvPicPr>
        <p:blipFill>
          <a:blip r:embed="rId2"/>
          <a:stretch>
            <a:fillRect/>
          </a:stretch>
        </p:blipFill>
        <p:spPr>
          <a:xfrm>
            <a:off x="2095153" y="543393"/>
            <a:ext cx="8001693" cy="3840813"/>
          </a:xfrm>
          <a:prstGeom prst="rect">
            <a:avLst/>
          </a:prstGeom>
        </p:spPr>
      </p:pic>
    </p:spTree>
    <p:extLst>
      <p:ext uri="{BB962C8B-B14F-4D97-AF65-F5344CB8AC3E}">
        <p14:creationId xmlns:p14="http://schemas.microsoft.com/office/powerpoint/2010/main" val="3157473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8759BD44-325B-4B24-981E-B67FB669CC35}"/>
              </a:ext>
            </a:extLst>
          </p:cNvPr>
          <p:cNvPicPr>
            <a:picLocks noChangeAspect="1"/>
          </p:cNvPicPr>
          <p:nvPr/>
        </p:nvPicPr>
        <p:blipFill>
          <a:blip r:embed="rId2"/>
          <a:stretch>
            <a:fillRect/>
          </a:stretch>
        </p:blipFill>
        <p:spPr>
          <a:xfrm>
            <a:off x="422629" y="415029"/>
            <a:ext cx="6469941" cy="6027942"/>
          </a:xfrm>
          <a:prstGeom prst="rect">
            <a:avLst/>
          </a:prstGeom>
        </p:spPr>
      </p:pic>
      <p:sp>
        <p:nvSpPr>
          <p:cNvPr id="6" name="Прямоугольник 5">
            <a:extLst>
              <a:ext uri="{FF2B5EF4-FFF2-40B4-BE49-F238E27FC236}">
                <a16:creationId xmlns:a16="http://schemas.microsoft.com/office/drawing/2014/main" id="{DEF6D8F9-624F-454D-A924-F62F624357C7}"/>
              </a:ext>
            </a:extLst>
          </p:cNvPr>
          <p:cNvSpPr/>
          <p:nvPr/>
        </p:nvSpPr>
        <p:spPr>
          <a:xfrm>
            <a:off x="7066841" y="1443841"/>
            <a:ext cx="4702530" cy="3970318"/>
          </a:xfrm>
          <a:prstGeom prst="rect">
            <a:avLst/>
          </a:prstGeom>
        </p:spPr>
        <p:txBody>
          <a:bodyPr wrap="square">
            <a:spAutoFit/>
          </a:bodyPr>
          <a:lstStyle/>
          <a:p>
            <a:r>
              <a:rPr lang="en-US" sz="1400" b="0" i="0" dirty="0">
                <a:effectLst/>
                <a:latin typeface="Georgia" panose="02040502050405020303" pitchFamily="18" charset="0"/>
              </a:rPr>
              <a:t>It would be difficult if not impossible to find two philosophers who would define philosophy in exactly the same way. Throughout its long and varied history in the West, philosophy has meant many different things. Some of these have been a search for wisdom (the meaning closest to the Latin </a:t>
            </a:r>
            <a:r>
              <a:rPr lang="en-US" sz="1400" b="0" i="1" dirty="0">
                <a:effectLst/>
                <a:latin typeface="Georgia" panose="02040502050405020303" pitchFamily="18" charset="0"/>
              </a:rPr>
              <a:t>philosophia</a:t>
            </a:r>
            <a:r>
              <a:rPr lang="en-US" sz="1400" b="0" i="0" dirty="0">
                <a:effectLst/>
                <a:latin typeface="Georgia" panose="02040502050405020303" pitchFamily="18" charset="0"/>
              </a:rPr>
              <a:t>, itself derived from the Greek </a:t>
            </a:r>
            <a:r>
              <a:rPr lang="en-US" sz="1400" b="0" i="1" dirty="0">
                <a:effectLst/>
                <a:latin typeface="Georgia" panose="02040502050405020303" pitchFamily="18" charset="0"/>
              </a:rPr>
              <a:t>philosopher</a:t>
            </a:r>
            <a:r>
              <a:rPr lang="en-US" sz="1400" b="0" i="0" dirty="0">
                <a:effectLst/>
                <a:latin typeface="Georgia" panose="02040502050405020303" pitchFamily="18" charset="0"/>
              </a:rPr>
              <a:t>, “lover of wisdom”); an attempt to understand the universe as a whole; an examination of humankind’s </a:t>
            </a:r>
            <a:r>
              <a:rPr lang="en-US" sz="1400" b="0" i="0" strike="noStrike" dirty="0">
                <a:effectLst/>
                <a:latin typeface="Georgia" panose="02040502050405020303" pitchFamily="18" charset="0"/>
                <a:hlinkClick r:id="rId3">
                  <a:extLst>
                    <a:ext uri="{A12FA001-AC4F-418D-AE19-62706E023703}">
                      <ahyp:hlinkClr xmlns:ahyp="http://schemas.microsoft.com/office/drawing/2018/hyperlinkcolor" val="tx"/>
                    </a:ext>
                  </a:extLst>
                </a:hlinkClick>
              </a:rPr>
              <a:t>moral</a:t>
            </a:r>
            <a:r>
              <a:rPr lang="en-US" sz="1400" b="0" i="0" dirty="0">
                <a:effectLst/>
                <a:latin typeface="Georgia" panose="02040502050405020303" pitchFamily="18" charset="0"/>
              </a:rPr>
              <a:t> responsibilities and social obligations; an effort to fathom the divine intentions and the place of human beings with reference to them; an effort to ground the enterprise of natural science; a rigorous examination of the origin, extent, and validity of human ideas; an exploration of the place of will or </a:t>
            </a:r>
            <a:r>
              <a:rPr lang="en-US" sz="1400" b="0" i="0" strike="noStrike" dirty="0">
                <a:effectLst/>
                <a:latin typeface="Georgia" panose="02040502050405020303" pitchFamily="18" charset="0"/>
                <a:hlinkClick r:id="rId4">
                  <a:extLst>
                    <a:ext uri="{A12FA001-AC4F-418D-AE19-62706E023703}">
                      <ahyp:hlinkClr xmlns:ahyp="http://schemas.microsoft.com/office/drawing/2018/hyperlinkcolor" val="tx"/>
                    </a:ext>
                  </a:extLst>
                </a:hlinkClick>
              </a:rPr>
              <a:t>consciousness</a:t>
            </a:r>
            <a:r>
              <a:rPr lang="en-US" sz="1400" b="0" i="0" dirty="0">
                <a:effectLst/>
                <a:latin typeface="Georgia" panose="02040502050405020303" pitchFamily="18" charset="0"/>
              </a:rPr>
              <a:t> in the universe; an examination of the values of </a:t>
            </a:r>
            <a:r>
              <a:rPr lang="en-US" sz="1400" b="0" i="0" dirty="0">
                <a:effectLst/>
                <a:latin typeface="Georgia" panose="02040502050405020303" pitchFamily="18" charset="0"/>
                <a:hlinkClick r:id="rId5">
                  <a:extLst>
                    <a:ext uri="{A12FA001-AC4F-418D-AE19-62706E023703}">
                      <ahyp:hlinkClr xmlns:ahyp="http://schemas.microsoft.com/office/drawing/2018/hyperlinkcolor" val="tx"/>
                    </a:ext>
                  </a:extLst>
                </a:hlinkClick>
              </a:rPr>
              <a:t>truth</a:t>
            </a:r>
            <a:r>
              <a:rPr lang="en-US" sz="1400" b="0" i="0" dirty="0">
                <a:effectLst/>
                <a:latin typeface="Georgia" panose="02040502050405020303" pitchFamily="18" charset="0"/>
              </a:rPr>
              <a:t>, goodness, and beauty; and an effort to codify the rules of human thought in order to promote rationality and the extension of clear thinking.</a:t>
            </a:r>
            <a:endParaRPr lang="ru-RU" sz="1400" dirty="0"/>
          </a:p>
        </p:txBody>
      </p:sp>
    </p:spTree>
    <p:extLst>
      <p:ext uri="{BB962C8B-B14F-4D97-AF65-F5344CB8AC3E}">
        <p14:creationId xmlns:p14="http://schemas.microsoft.com/office/powerpoint/2010/main" val="14183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28829069-BBFB-4C75-83A3-6C1C12A9D45D}"/>
              </a:ext>
            </a:extLst>
          </p:cNvPr>
          <p:cNvPicPr>
            <a:picLocks noChangeAspect="1"/>
          </p:cNvPicPr>
          <p:nvPr/>
        </p:nvPicPr>
        <p:blipFill>
          <a:blip r:embed="rId2"/>
          <a:stretch>
            <a:fillRect/>
          </a:stretch>
        </p:blipFill>
        <p:spPr>
          <a:xfrm>
            <a:off x="4121461" y="50759"/>
            <a:ext cx="5148920" cy="3876716"/>
          </a:xfrm>
          <a:prstGeom prst="rect">
            <a:avLst/>
          </a:prstGeom>
        </p:spPr>
      </p:pic>
      <p:pic>
        <p:nvPicPr>
          <p:cNvPr id="5" name="Рисунок 4">
            <a:extLst>
              <a:ext uri="{FF2B5EF4-FFF2-40B4-BE49-F238E27FC236}">
                <a16:creationId xmlns:a16="http://schemas.microsoft.com/office/drawing/2014/main" id="{021FBE7D-3A6F-4C7B-BE26-76EF7DA4F40F}"/>
              </a:ext>
            </a:extLst>
          </p:cNvPr>
          <p:cNvPicPr>
            <a:picLocks noChangeAspect="1"/>
          </p:cNvPicPr>
          <p:nvPr/>
        </p:nvPicPr>
        <p:blipFill>
          <a:blip r:embed="rId3"/>
          <a:stretch>
            <a:fillRect/>
          </a:stretch>
        </p:blipFill>
        <p:spPr>
          <a:xfrm>
            <a:off x="0" y="735141"/>
            <a:ext cx="4121461" cy="2507953"/>
          </a:xfrm>
          <a:prstGeom prst="rect">
            <a:avLst/>
          </a:prstGeom>
        </p:spPr>
      </p:pic>
      <p:pic>
        <p:nvPicPr>
          <p:cNvPr id="6" name="Рисунок 5">
            <a:extLst>
              <a:ext uri="{FF2B5EF4-FFF2-40B4-BE49-F238E27FC236}">
                <a16:creationId xmlns:a16="http://schemas.microsoft.com/office/drawing/2014/main" id="{9919964D-A0E9-40F5-9CD8-68CFB314DB45}"/>
              </a:ext>
            </a:extLst>
          </p:cNvPr>
          <p:cNvPicPr>
            <a:picLocks noChangeAspect="1"/>
          </p:cNvPicPr>
          <p:nvPr/>
        </p:nvPicPr>
        <p:blipFill>
          <a:blip r:embed="rId4"/>
          <a:stretch>
            <a:fillRect/>
          </a:stretch>
        </p:blipFill>
        <p:spPr>
          <a:xfrm>
            <a:off x="8135340" y="4218786"/>
            <a:ext cx="4056660" cy="2229250"/>
          </a:xfrm>
          <a:prstGeom prst="rect">
            <a:avLst/>
          </a:prstGeom>
        </p:spPr>
      </p:pic>
      <p:pic>
        <p:nvPicPr>
          <p:cNvPr id="7" name="Рисунок 6">
            <a:extLst>
              <a:ext uri="{FF2B5EF4-FFF2-40B4-BE49-F238E27FC236}">
                <a16:creationId xmlns:a16="http://schemas.microsoft.com/office/drawing/2014/main" id="{C3F22A7E-820F-4851-91B3-E33D5664EA64}"/>
              </a:ext>
            </a:extLst>
          </p:cNvPr>
          <p:cNvPicPr>
            <a:picLocks noChangeAspect="1"/>
          </p:cNvPicPr>
          <p:nvPr/>
        </p:nvPicPr>
        <p:blipFill>
          <a:blip r:embed="rId5"/>
          <a:stretch>
            <a:fillRect/>
          </a:stretch>
        </p:blipFill>
        <p:spPr>
          <a:xfrm>
            <a:off x="361631" y="3913915"/>
            <a:ext cx="4883469" cy="2838991"/>
          </a:xfrm>
          <a:prstGeom prst="rect">
            <a:avLst/>
          </a:prstGeom>
        </p:spPr>
      </p:pic>
    </p:spTree>
    <p:extLst>
      <p:ext uri="{BB962C8B-B14F-4D97-AF65-F5344CB8AC3E}">
        <p14:creationId xmlns:p14="http://schemas.microsoft.com/office/powerpoint/2010/main" val="1595912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0BE7141B-367E-4F28-ADE2-42DDFA9C7906}"/>
              </a:ext>
            </a:extLst>
          </p:cNvPr>
          <p:cNvPicPr>
            <a:picLocks noChangeAspect="1"/>
          </p:cNvPicPr>
          <p:nvPr/>
        </p:nvPicPr>
        <p:blipFill>
          <a:blip r:embed="rId2"/>
          <a:stretch>
            <a:fillRect/>
          </a:stretch>
        </p:blipFill>
        <p:spPr>
          <a:xfrm>
            <a:off x="2289480" y="849406"/>
            <a:ext cx="7613040" cy="5159187"/>
          </a:xfrm>
          <a:prstGeom prst="rect">
            <a:avLst/>
          </a:prstGeom>
        </p:spPr>
      </p:pic>
    </p:spTree>
    <p:extLst>
      <p:ext uri="{BB962C8B-B14F-4D97-AF65-F5344CB8AC3E}">
        <p14:creationId xmlns:p14="http://schemas.microsoft.com/office/powerpoint/2010/main" val="2550571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9BBAAE18-11FB-40A8-930C-E39EA9A72E00}"/>
              </a:ext>
            </a:extLst>
          </p:cNvPr>
          <p:cNvPicPr>
            <a:picLocks noChangeAspect="1"/>
          </p:cNvPicPr>
          <p:nvPr/>
        </p:nvPicPr>
        <p:blipFill>
          <a:blip r:embed="rId2"/>
          <a:stretch>
            <a:fillRect/>
          </a:stretch>
        </p:blipFill>
        <p:spPr>
          <a:xfrm>
            <a:off x="2278049" y="1104698"/>
            <a:ext cx="7635902" cy="4648603"/>
          </a:xfrm>
          <a:prstGeom prst="rect">
            <a:avLst/>
          </a:prstGeom>
        </p:spPr>
      </p:pic>
    </p:spTree>
    <p:extLst>
      <p:ext uri="{BB962C8B-B14F-4D97-AF65-F5344CB8AC3E}">
        <p14:creationId xmlns:p14="http://schemas.microsoft.com/office/powerpoint/2010/main" val="2516579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48E5DB13-11D1-463C-B4B7-42FE74A0543F}"/>
              </a:ext>
            </a:extLst>
          </p:cNvPr>
          <p:cNvPicPr>
            <a:picLocks noChangeAspect="1"/>
          </p:cNvPicPr>
          <p:nvPr/>
        </p:nvPicPr>
        <p:blipFill>
          <a:blip r:embed="rId2"/>
          <a:stretch>
            <a:fillRect/>
          </a:stretch>
        </p:blipFill>
        <p:spPr>
          <a:xfrm>
            <a:off x="2384738" y="815113"/>
            <a:ext cx="7422523" cy="5227773"/>
          </a:xfrm>
          <a:prstGeom prst="rect">
            <a:avLst/>
          </a:prstGeom>
        </p:spPr>
      </p:pic>
    </p:spTree>
    <p:extLst>
      <p:ext uri="{BB962C8B-B14F-4D97-AF65-F5344CB8AC3E}">
        <p14:creationId xmlns:p14="http://schemas.microsoft.com/office/powerpoint/2010/main" val="126892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93800"/>
            <a:ext cx="9144000" cy="2387600"/>
          </a:xfrm>
        </p:spPr>
        <p:txBody>
          <a:bodyPr/>
          <a:lstStyle/>
          <a:p>
            <a:r>
              <a:rPr lang="en-US" dirty="0"/>
              <a:t>Socrates </a:t>
            </a:r>
            <a:r>
              <a:rPr lang="en-US" dirty="0" err="1"/>
              <a:t>biorgraphy</a:t>
            </a:r>
            <a:endParaRPr lang="en-US" dirty="0"/>
          </a:p>
        </p:txBody>
      </p:sp>
      <p:pic>
        <p:nvPicPr>
          <p:cNvPr id="1026" name="Picture 2" descr="Socr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4318" y="2146661"/>
            <a:ext cx="3705497" cy="37054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367246" y="2394857"/>
            <a:ext cx="3927565" cy="3416320"/>
          </a:xfrm>
          <a:prstGeom prst="rect">
            <a:avLst/>
          </a:prstGeom>
          <a:noFill/>
        </p:spPr>
        <p:txBody>
          <a:bodyPr wrap="square" rtlCol="0">
            <a:spAutoFit/>
          </a:bodyPr>
          <a:lstStyle/>
          <a:p>
            <a:r>
              <a:rPr lang="en-US" dirty="0"/>
              <a:t>Born circa 470 B.C. in Athens, Greece</a:t>
            </a:r>
            <a:endParaRPr lang="ru-RU" dirty="0"/>
          </a:p>
          <a:p>
            <a:endParaRPr lang="ru-RU" dirty="0"/>
          </a:p>
          <a:p>
            <a:r>
              <a:rPr lang="en-US" dirty="0"/>
              <a:t>Socrates's life is chronicled through only a few sources: the dialogues of Plato and Xenophon and the plays of Aristophanes. </a:t>
            </a:r>
            <a:endParaRPr lang="ru-RU" dirty="0"/>
          </a:p>
          <a:p>
            <a:endParaRPr lang="ru-RU" dirty="0"/>
          </a:p>
          <a:p>
            <a:r>
              <a:rPr lang="en-US" dirty="0"/>
              <a:t>Socrates was the son of </a:t>
            </a:r>
            <a:r>
              <a:rPr lang="en-US" dirty="0" err="1"/>
              <a:t>Sophroniscus</a:t>
            </a:r>
            <a:r>
              <a:rPr lang="en-US" dirty="0"/>
              <a:t>, an Athenian stonemason and sculptor, and </a:t>
            </a:r>
            <a:r>
              <a:rPr lang="en-US" dirty="0" err="1"/>
              <a:t>Phaenarete</a:t>
            </a:r>
            <a:r>
              <a:rPr lang="en-US" dirty="0"/>
              <a:t>, a midwife.</a:t>
            </a:r>
          </a:p>
          <a:p>
            <a:endParaRPr lang="en-US" dirty="0"/>
          </a:p>
          <a:p>
            <a:endParaRPr lang="en-US" dirty="0"/>
          </a:p>
        </p:txBody>
      </p:sp>
    </p:spTree>
    <p:extLst>
      <p:ext uri="{BB962C8B-B14F-4D97-AF65-F5344CB8AC3E}">
        <p14:creationId xmlns:p14="http://schemas.microsoft.com/office/powerpoint/2010/main" val="1228787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crates Fact C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074126" cy="687229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796937" y="2769326"/>
            <a:ext cx="6096000" cy="2031325"/>
          </a:xfrm>
          <a:prstGeom prst="rect">
            <a:avLst/>
          </a:prstGeom>
          <a:noFill/>
        </p:spPr>
        <p:txBody>
          <a:bodyPr wrap="square" rtlCol="0">
            <a:spAutoFit/>
          </a:bodyPr>
          <a:lstStyle/>
          <a:p>
            <a:r>
              <a:rPr lang="en-US" dirty="0"/>
              <a:t>Socrates served in the armored infantry — known as the hoplite — with shield, long spear and face mask</a:t>
            </a:r>
            <a:endParaRPr lang="ru-RU" dirty="0"/>
          </a:p>
          <a:p>
            <a:endParaRPr lang="ru-RU" dirty="0"/>
          </a:p>
          <a:p>
            <a:r>
              <a:rPr lang="en-US" dirty="0"/>
              <a:t>In 399 B.C., Socrates was accused of corrupting the youth of Athens and of impiety, or heresy. He chose to defend himself in court.</a:t>
            </a:r>
          </a:p>
          <a:p>
            <a:endParaRPr lang="en-US" dirty="0"/>
          </a:p>
        </p:txBody>
      </p:sp>
      <p:sp>
        <p:nvSpPr>
          <p:cNvPr id="4" name="Title 1"/>
          <p:cNvSpPr txBox="1">
            <a:spLocks/>
          </p:cNvSpPr>
          <p:nvPr/>
        </p:nvSpPr>
        <p:spPr>
          <a:xfrm>
            <a:off x="3796937" y="381726"/>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dirty="0"/>
              <a:t>Socrates</a:t>
            </a:r>
            <a:r>
              <a:rPr lang="en-US" dirty="0"/>
              <a:t> </a:t>
            </a:r>
            <a:r>
              <a:rPr lang="en-US" sz="6000" dirty="0" err="1"/>
              <a:t>biorgraphy</a:t>
            </a:r>
            <a:endParaRPr lang="en-US" sz="6000" dirty="0"/>
          </a:p>
        </p:txBody>
      </p:sp>
    </p:spTree>
    <p:extLst>
      <p:ext uri="{BB962C8B-B14F-4D97-AF65-F5344CB8AC3E}">
        <p14:creationId xmlns:p14="http://schemas.microsoft.com/office/powerpoint/2010/main" val="3404407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1AB6AC9A-1CD7-400C-9E04-D58D4D284318}"/>
              </a:ext>
            </a:extLst>
          </p:cNvPr>
          <p:cNvPicPr>
            <a:picLocks noChangeAspect="1"/>
          </p:cNvPicPr>
          <p:nvPr/>
        </p:nvPicPr>
        <p:blipFill>
          <a:blip r:embed="rId2"/>
          <a:stretch>
            <a:fillRect/>
          </a:stretch>
        </p:blipFill>
        <p:spPr>
          <a:xfrm>
            <a:off x="0" y="1174457"/>
            <a:ext cx="12192000" cy="4191585"/>
          </a:xfrm>
          <a:prstGeom prst="rect">
            <a:avLst/>
          </a:prstGeom>
        </p:spPr>
      </p:pic>
      <p:sp>
        <p:nvSpPr>
          <p:cNvPr id="5" name="TextBox 4">
            <a:extLst>
              <a:ext uri="{FF2B5EF4-FFF2-40B4-BE49-F238E27FC236}">
                <a16:creationId xmlns:a16="http://schemas.microsoft.com/office/drawing/2014/main" id="{A0E9BE88-46A4-4CBC-9516-28B52C22EF47}"/>
              </a:ext>
            </a:extLst>
          </p:cNvPr>
          <p:cNvSpPr txBox="1"/>
          <p:nvPr/>
        </p:nvSpPr>
        <p:spPr>
          <a:xfrm>
            <a:off x="3178207" y="322525"/>
            <a:ext cx="4754798" cy="1015663"/>
          </a:xfrm>
          <a:prstGeom prst="rect">
            <a:avLst/>
          </a:prstGeom>
          <a:noFill/>
        </p:spPr>
        <p:txBody>
          <a:bodyPr wrap="square" rtlCol="0">
            <a:spAutoFit/>
          </a:bodyPr>
          <a:lstStyle/>
          <a:p>
            <a:r>
              <a:rPr lang="en-US" sz="6000" dirty="0">
                <a:latin typeface="Bauhaus 93" panose="04030905020B02020C02" pitchFamily="82" charset="0"/>
              </a:rPr>
              <a:t>SOCRATES</a:t>
            </a:r>
            <a:endParaRPr lang="ru-RU" sz="6000" dirty="0"/>
          </a:p>
        </p:txBody>
      </p:sp>
    </p:spTree>
    <p:extLst>
      <p:ext uri="{BB962C8B-B14F-4D97-AF65-F5344CB8AC3E}">
        <p14:creationId xmlns:p14="http://schemas.microsoft.com/office/powerpoint/2010/main" val="316816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584135AC-57E5-4E85-8B7E-6BFDFF3B7600}"/>
              </a:ext>
            </a:extLst>
          </p:cNvPr>
          <p:cNvSpPr>
            <a:spLocks noGrp="1"/>
          </p:cNvSpPr>
          <p:nvPr>
            <p:ph idx="1"/>
          </p:nvPr>
        </p:nvSpPr>
        <p:spPr>
          <a:xfrm>
            <a:off x="687279" y="1253331"/>
            <a:ext cx="10515600" cy="4351338"/>
          </a:xfrm>
          <a:prstGeom prst="rect">
            <a:avLst/>
          </a:prstGeom>
        </p:spPr>
        <p:txBody>
          <a:bodyPr>
            <a:spAutoFit/>
          </a:bodyPr>
          <a:lstStyle/>
          <a:p>
            <a:pPr>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According to various sources, the philosopher was born in 470-469 BC in Greek Athens, in the family of the sculptor </a:t>
            </a:r>
            <a:r>
              <a:rPr lang="en-US" dirty="0" err="1">
                <a:latin typeface="Calibri" panose="020F0502020204030204" pitchFamily="34" charset="0"/>
                <a:ea typeface="Calibri" panose="020F0502020204030204" pitchFamily="34" charset="0"/>
                <a:cs typeface="Times New Roman" panose="02020603050405020304" pitchFamily="18" charset="0"/>
              </a:rPr>
              <a:t>Sofronisk</a:t>
            </a:r>
            <a:r>
              <a:rPr lang="en-US" dirty="0">
                <a:latin typeface="Calibri" panose="020F0502020204030204" pitchFamily="34" charset="0"/>
                <a:ea typeface="Calibri" panose="020F0502020204030204" pitchFamily="34" charset="0"/>
                <a:cs typeface="Times New Roman" panose="02020603050405020304" pitchFamily="18" charset="0"/>
              </a:rPr>
              <a:t> and the midwife </a:t>
            </a:r>
            <a:r>
              <a:rPr lang="en-US" dirty="0" err="1">
                <a:latin typeface="Calibri" panose="020F0502020204030204" pitchFamily="34" charset="0"/>
                <a:ea typeface="Calibri" panose="020F0502020204030204" pitchFamily="34" charset="0"/>
                <a:cs typeface="Times New Roman" panose="02020603050405020304" pitchFamily="18" charset="0"/>
              </a:rPr>
              <a:t>Fenareta</a:t>
            </a:r>
            <a:r>
              <a:rPr lang="en-US" dirty="0">
                <a:latin typeface="Calibri" panose="020F0502020204030204" pitchFamily="34" charset="0"/>
                <a:ea typeface="Calibri" panose="020F0502020204030204" pitchFamily="34" charset="0"/>
                <a:cs typeface="Times New Roman" panose="02020603050405020304" pitchFamily="18" charset="0"/>
              </a:rPr>
              <a:t>. The future great thinker had an older brother, Patroclus, who inherited his father's property, but Socrates did not remain in poverty. This can be judged by the fact that the philosopher went to war with Sparta in the uniform of a heavily armed warrior, and only wealthy citizens could afford to pay for it. From this follows the conclusion that Socrates' father was a wealthy citizen and earned good money, wielding a chisel and other tools.</a:t>
            </a:r>
            <a:endParaRPr lang="ru-RU"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42001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D0B658-03F0-4071-A79E-335DD4338174}"/>
              </a:ext>
            </a:extLst>
          </p:cNvPr>
          <p:cNvSpPr>
            <a:spLocks noGrp="1"/>
          </p:cNvSpPr>
          <p:nvPr>
            <p:ph type="ctrTitle"/>
          </p:nvPr>
        </p:nvSpPr>
        <p:spPr>
          <a:xfrm>
            <a:off x="1524000" y="1122363"/>
            <a:ext cx="2023533" cy="477837"/>
          </a:xfrm>
        </p:spPr>
        <p:txBody>
          <a:bodyPr>
            <a:noAutofit/>
          </a:bodyPr>
          <a:lstStyle/>
          <a:p>
            <a:pPr algn="l"/>
            <a:r>
              <a:rPr lang="en-US" sz="3200" dirty="0">
                <a:latin typeface="Berlin Sans FB" panose="020E0602020502020306" pitchFamily="34" charset="0"/>
              </a:rPr>
              <a:t>Philosophy</a:t>
            </a:r>
            <a:endParaRPr lang="ru-RU" sz="3200" dirty="0"/>
          </a:p>
        </p:txBody>
      </p:sp>
      <p:sp>
        <p:nvSpPr>
          <p:cNvPr id="3" name="Подзаголовок 2">
            <a:extLst>
              <a:ext uri="{FF2B5EF4-FFF2-40B4-BE49-F238E27FC236}">
                <a16:creationId xmlns:a16="http://schemas.microsoft.com/office/drawing/2014/main" id="{1543EF43-C5CC-43F6-ACC4-166463F05308}"/>
              </a:ext>
            </a:extLst>
          </p:cNvPr>
          <p:cNvSpPr>
            <a:spLocks noGrp="1"/>
          </p:cNvSpPr>
          <p:nvPr>
            <p:ph type="subTitle" idx="1"/>
          </p:nvPr>
        </p:nvSpPr>
        <p:spPr>
          <a:xfrm>
            <a:off x="1524000" y="1896532"/>
            <a:ext cx="9144000" cy="3361267"/>
          </a:xfrm>
        </p:spPr>
        <p:txBody>
          <a:bodyPr/>
          <a:lstStyle/>
          <a:p>
            <a:pPr algn="l"/>
            <a:r>
              <a:rPr lang="en-US" dirty="0"/>
              <a:t>Socratic method:</a:t>
            </a:r>
          </a:p>
          <a:p>
            <a:pPr marL="342900" indent="-342900" algn="l">
              <a:buFont typeface="Arial" panose="020B0604020202020204" pitchFamily="34" charset="0"/>
              <a:buChar char="•"/>
            </a:pPr>
            <a:r>
              <a:rPr lang="en-US" dirty="0"/>
              <a:t>Socratic priority of definition</a:t>
            </a:r>
          </a:p>
          <a:p>
            <a:pPr marL="342900" indent="-342900" algn="l">
              <a:buFont typeface="Arial" panose="020B0604020202020204" pitchFamily="34" charset="0"/>
              <a:buChar char="•"/>
            </a:pPr>
            <a:r>
              <a:rPr lang="en-US" dirty="0"/>
              <a:t>Socratic ignorance</a:t>
            </a:r>
          </a:p>
          <a:p>
            <a:pPr marL="342900" indent="-342900" algn="l">
              <a:buFont typeface="Arial" panose="020B0604020202020204" pitchFamily="34" charset="0"/>
              <a:buChar char="•"/>
            </a:pPr>
            <a:r>
              <a:rPr lang="en-US" dirty="0"/>
              <a:t>Socratic irony</a:t>
            </a:r>
            <a:endParaRPr lang="ru-RU" dirty="0"/>
          </a:p>
        </p:txBody>
      </p:sp>
      <p:pic>
        <p:nvPicPr>
          <p:cNvPr id="5" name="Рисунок 4">
            <a:extLst>
              <a:ext uri="{FF2B5EF4-FFF2-40B4-BE49-F238E27FC236}">
                <a16:creationId xmlns:a16="http://schemas.microsoft.com/office/drawing/2014/main" id="{ED78277F-0157-468E-919F-8E0F2339D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60449"/>
            <a:ext cx="5378027" cy="3361267"/>
          </a:xfrm>
          <a:prstGeom prst="rect">
            <a:avLst/>
          </a:prstGeom>
        </p:spPr>
      </p:pic>
    </p:spTree>
    <p:extLst>
      <p:ext uri="{BB962C8B-B14F-4D97-AF65-F5344CB8AC3E}">
        <p14:creationId xmlns:p14="http://schemas.microsoft.com/office/powerpoint/2010/main" val="770916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6ACA494B-544E-44FE-B681-E74565904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151" y="401866"/>
            <a:ext cx="9927697" cy="6054268"/>
          </a:xfrm>
          <a:prstGeom prst="rect">
            <a:avLst/>
          </a:prstGeom>
        </p:spPr>
      </p:pic>
    </p:spTree>
    <p:extLst>
      <p:ext uri="{BB962C8B-B14F-4D97-AF65-F5344CB8AC3E}">
        <p14:creationId xmlns:p14="http://schemas.microsoft.com/office/powerpoint/2010/main" val="1656453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091A6B-375E-4023-B17A-6818EE790E56}"/>
              </a:ext>
            </a:extLst>
          </p:cNvPr>
          <p:cNvSpPr>
            <a:spLocks noGrp="1"/>
          </p:cNvSpPr>
          <p:nvPr>
            <p:ph type="title"/>
          </p:nvPr>
        </p:nvSpPr>
        <p:spPr/>
        <p:txBody>
          <a:bodyPr/>
          <a:lstStyle/>
          <a:p>
            <a:pPr algn="ctr"/>
            <a:r>
              <a:rPr lang="en-US" dirty="0"/>
              <a:t>DEATH OF SOCRATES</a:t>
            </a:r>
            <a:endParaRPr lang="ru-RU" dirty="0"/>
          </a:p>
        </p:txBody>
      </p:sp>
      <p:pic>
        <p:nvPicPr>
          <p:cNvPr id="5" name="Объект 4">
            <a:extLst>
              <a:ext uri="{FF2B5EF4-FFF2-40B4-BE49-F238E27FC236}">
                <a16:creationId xmlns:a16="http://schemas.microsoft.com/office/drawing/2014/main" id="{6CF5A636-592B-488B-B9B0-95AFB2332B14}"/>
              </a:ext>
            </a:extLst>
          </p:cNvPr>
          <p:cNvPicPr>
            <a:picLocks noGrp="1" noChangeAspect="1"/>
          </p:cNvPicPr>
          <p:nvPr>
            <p:ph idx="1"/>
          </p:nvPr>
        </p:nvPicPr>
        <p:blipFill>
          <a:blip r:embed="rId2"/>
          <a:stretch>
            <a:fillRect/>
          </a:stretch>
        </p:blipFill>
        <p:spPr>
          <a:xfrm>
            <a:off x="3976633" y="1825625"/>
            <a:ext cx="4238734" cy="4351338"/>
          </a:xfrm>
        </p:spPr>
      </p:pic>
    </p:spTree>
    <p:extLst>
      <p:ext uri="{BB962C8B-B14F-4D97-AF65-F5344CB8AC3E}">
        <p14:creationId xmlns:p14="http://schemas.microsoft.com/office/powerpoint/2010/main" val="3134690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EC2ECF-7E6A-49EF-A022-A3F83FF45160}"/>
              </a:ext>
            </a:extLst>
          </p:cNvPr>
          <p:cNvSpPr>
            <a:spLocks noGrp="1"/>
          </p:cNvSpPr>
          <p:nvPr>
            <p:ph type="title"/>
          </p:nvPr>
        </p:nvSpPr>
        <p:spPr>
          <a:xfrm>
            <a:off x="838200" y="2376805"/>
            <a:ext cx="10515600" cy="1325563"/>
          </a:xfrm>
        </p:spPr>
        <p:txBody>
          <a:bodyPr>
            <a:noAutofit/>
          </a:bodyPr>
          <a:lstStyle/>
          <a:p>
            <a:r>
              <a:rPr lang="en-US" sz="2800" b="1" i="0" dirty="0">
                <a:solidFill>
                  <a:srgbClr val="666666"/>
                </a:solidFill>
                <a:effectLst/>
                <a:latin typeface="Lato"/>
              </a:rPr>
              <a:t>The Death of Socrates</a:t>
            </a:r>
            <a:r>
              <a:rPr lang="en-US" sz="2800" b="0" i="0" dirty="0">
                <a:solidFill>
                  <a:srgbClr val="666666"/>
                </a:solidFill>
                <a:effectLst/>
                <a:latin typeface="Lato"/>
              </a:rPr>
              <a:t> was on a day in 399 BC. at dusk after sunset, Socrates, the wisest and best of men, hurried the glass of hemlock (a well common plant in our geographical area) that will produce death, in the presence of his close friends who desolate attend the moral fortitude with which he faces the judgment. Socrates was 70 or 71 years old. An unjust sentence, following the infamous complaints of three opportunist, envious and resentful citizens with their teacher, made in a favorable overall environment for it, killed the teacher and gave him everlasting fame that in no way could suspect his contemporaries.</a:t>
            </a:r>
            <a:endParaRPr lang="ru-RU" sz="2800" dirty="0"/>
          </a:p>
        </p:txBody>
      </p:sp>
    </p:spTree>
    <p:extLst>
      <p:ext uri="{BB962C8B-B14F-4D97-AF65-F5344CB8AC3E}">
        <p14:creationId xmlns:p14="http://schemas.microsoft.com/office/powerpoint/2010/main" val="4036283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EECC48-9633-40E3-BDFF-FBFFF390B995}"/>
              </a:ext>
            </a:extLst>
          </p:cNvPr>
          <p:cNvSpPr>
            <a:spLocks noGrp="1"/>
          </p:cNvSpPr>
          <p:nvPr>
            <p:ph idx="1"/>
          </p:nvPr>
        </p:nvSpPr>
        <p:spPr/>
        <p:txBody>
          <a:bodyPr/>
          <a:lstStyle/>
          <a:p>
            <a:r>
              <a:rPr lang="en-US" sz="2800" b="0" i="0" dirty="0">
                <a:solidFill>
                  <a:srgbClr val="000000"/>
                </a:solidFill>
                <a:effectLst/>
                <a:latin typeface="Arial" panose="020B0604020202020204" pitchFamily="34" charset="0"/>
              </a:rPr>
              <a:t>The accusation came from the tragic poet </a:t>
            </a:r>
            <a:r>
              <a:rPr lang="en-US" sz="2800" b="0" i="0" dirty="0" err="1">
                <a:solidFill>
                  <a:srgbClr val="000000"/>
                </a:solidFill>
                <a:effectLst/>
                <a:latin typeface="Arial" panose="020B0604020202020204" pitchFamily="34" charset="0"/>
              </a:rPr>
              <a:t>Melet</a:t>
            </a:r>
            <a:r>
              <a:rPr lang="en-US" sz="2800" b="0" i="0" dirty="0">
                <a:solidFill>
                  <a:srgbClr val="000000"/>
                </a:solidFill>
                <a:effectLst/>
                <a:latin typeface="Arial" panose="020B0604020202020204" pitchFamily="34" charset="0"/>
              </a:rPr>
              <a:t>, the rich tanner Anita and the orator </a:t>
            </a:r>
            <a:r>
              <a:rPr lang="en-US" sz="2800" b="0" i="0" dirty="0" err="1">
                <a:solidFill>
                  <a:srgbClr val="000000"/>
                </a:solidFill>
                <a:effectLst/>
                <a:latin typeface="Arial" panose="020B0604020202020204" pitchFamily="34" charset="0"/>
              </a:rPr>
              <a:t>Lycon</a:t>
            </a:r>
            <a:r>
              <a:rPr lang="en-US" sz="2800" b="0" i="0" dirty="0">
                <a:solidFill>
                  <a:srgbClr val="000000"/>
                </a:solidFill>
                <a:effectLst/>
                <a:latin typeface="Arial" panose="020B0604020202020204" pitchFamily="34" charset="0"/>
              </a:rPr>
              <a:t>. The accuser was </a:t>
            </a:r>
            <a:r>
              <a:rPr lang="en-US" sz="2800" b="0" i="0" dirty="0" err="1">
                <a:solidFill>
                  <a:srgbClr val="000000"/>
                </a:solidFill>
                <a:effectLst/>
                <a:latin typeface="Arial" panose="020B0604020202020204" pitchFamily="34" charset="0"/>
              </a:rPr>
              <a:t>Melet</a:t>
            </a:r>
            <a:r>
              <a:rPr lang="en-US" sz="2800" b="0" i="0" dirty="0">
                <a:solidFill>
                  <a:srgbClr val="000000"/>
                </a:solidFill>
                <a:effectLst/>
                <a:latin typeface="Arial" panose="020B0604020202020204" pitchFamily="34" charset="0"/>
              </a:rPr>
              <a:t>, who stated that he was swearing to accuse Socrates that "he does not honor the gods that the city honors, but introduces new deities, and is guilty of corrupting youth; and the punishment for that is death"</a:t>
            </a:r>
            <a:endParaRPr lang="ru-RU" dirty="0"/>
          </a:p>
        </p:txBody>
      </p:sp>
    </p:spTree>
    <p:extLst>
      <p:ext uri="{BB962C8B-B14F-4D97-AF65-F5344CB8AC3E}">
        <p14:creationId xmlns:p14="http://schemas.microsoft.com/office/powerpoint/2010/main" val="549067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BE6228-9BCD-49FB-A7D1-3F805B6F93C1}"/>
              </a:ext>
            </a:extLst>
          </p:cNvPr>
          <p:cNvSpPr>
            <a:spLocks noGrp="1"/>
          </p:cNvSpPr>
          <p:nvPr>
            <p:ph type="title"/>
          </p:nvPr>
        </p:nvSpPr>
        <p:spPr/>
        <p:txBody>
          <a:bodyPr/>
          <a:lstStyle/>
          <a:p>
            <a:r>
              <a:rPr lang="en-US" b="0" i="0" dirty="0">
                <a:solidFill>
                  <a:srgbClr val="222222"/>
                </a:solidFill>
                <a:effectLst/>
                <a:latin typeface="inherit"/>
              </a:rPr>
              <a:t>Why was Socrates condemned to die?</a:t>
            </a:r>
            <a:br>
              <a:rPr lang="en-US" b="0" i="0" dirty="0">
                <a:solidFill>
                  <a:srgbClr val="222222"/>
                </a:solidFill>
                <a:effectLst/>
                <a:latin typeface="Lato"/>
              </a:rPr>
            </a:br>
            <a:endParaRPr lang="ru-RU" dirty="0"/>
          </a:p>
        </p:txBody>
      </p:sp>
      <p:sp>
        <p:nvSpPr>
          <p:cNvPr id="3" name="Объект 2">
            <a:extLst>
              <a:ext uri="{FF2B5EF4-FFF2-40B4-BE49-F238E27FC236}">
                <a16:creationId xmlns:a16="http://schemas.microsoft.com/office/drawing/2014/main" id="{CF1FC58E-7D14-4522-9A66-03D9617AFD4A}"/>
              </a:ext>
            </a:extLst>
          </p:cNvPr>
          <p:cNvSpPr>
            <a:spLocks noGrp="1"/>
          </p:cNvSpPr>
          <p:nvPr>
            <p:ph idx="1"/>
          </p:nvPr>
        </p:nvSpPr>
        <p:spPr/>
        <p:txBody>
          <a:bodyPr/>
          <a:lstStyle/>
          <a:p>
            <a:pPr marL="0" indent="0">
              <a:buNone/>
            </a:pPr>
            <a:r>
              <a:rPr lang="en-US" b="0" i="1" dirty="0">
                <a:solidFill>
                  <a:srgbClr val="666666"/>
                </a:solidFill>
                <a:effectLst/>
                <a:latin typeface="Lato"/>
              </a:rPr>
              <a:t>Socrates </a:t>
            </a:r>
            <a:r>
              <a:rPr lang="en-US" b="0" i="0" dirty="0">
                <a:solidFill>
                  <a:srgbClr val="666666"/>
                </a:solidFill>
                <a:effectLst/>
                <a:latin typeface="Lato"/>
              </a:rPr>
              <a:t>was accused basically of three crimes: </a:t>
            </a:r>
          </a:p>
          <a:p>
            <a:r>
              <a:rPr lang="en-US" b="0" i="0" dirty="0">
                <a:solidFill>
                  <a:srgbClr val="666666"/>
                </a:solidFill>
                <a:effectLst/>
                <a:latin typeface="Lato"/>
              </a:rPr>
              <a:t>to introduce new gods and to despise existing,  </a:t>
            </a:r>
          </a:p>
          <a:p>
            <a:r>
              <a:rPr lang="en-US" b="0" i="0" dirty="0">
                <a:solidFill>
                  <a:srgbClr val="666666"/>
                </a:solidFill>
                <a:effectLst/>
                <a:latin typeface="Lato"/>
              </a:rPr>
              <a:t>to transform with the art of the word the  truth into falsehood without  respecting the law, </a:t>
            </a:r>
          </a:p>
          <a:p>
            <a:r>
              <a:rPr lang="en-US" b="0" i="0" dirty="0">
                <a:solidFill>
                  <a:srgbClr val="666666"/>
                </a:solidFill>
                <a:effectLst/>
                <a:latin typeface="Lato"/>
              </a:rPr>
              <a:t>to corrupt the youth.</a:t>
            </a:r>
            <a:endParaRPr lang="ru-RU" dirty="0"/>
          </a:p>
        </p:txBody>
      </p:sp>
    </p:spTree>
    <p:extLst>
      <p:ext uri="{BB962C8B-B14F-4D97-AF65-F5344CB8AC3E}">
        <p14:creationId xmlns:p14="http://schemas.microsoft.com/office/powerpoint/2010/main" val="1262407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193372-A7BF-4094-B204-859E3F4BC97B}"/>
              </a:ext>
            </a:extLst>
          </p:cNvPr>
          <p:cNvSpPr>
            <a:spLocks noGrp="1"/>
          </p:cNvSpPr>
          <p:nvPr>
            <p:ph type="title"/>
          </p:nvPr>
        </p:nvSpPr>
        <p:spPr/>
        <p:txBody>
          <a:bodyPr/>
          <a:lstStyle/>
          <a:p>
            <a:r>
              <a:rPr lang="en-US" b="0" i="0" dirty="0">
                <a:solidFill>
                  <a:srgbClr val="222222"/>
                </a:solidFill>
                <a:effectLst/>
                <a:latin typeface="inherit"/>
              </a:rPr>
              <a:t>Socrates’ spiritual reflection on death</a:t>
            </a:r>
            <a:br>
              <a:rPr lang="en-US" b="0" i="0" dirty="0">
                <a:solidFill>
                  <a:srgbClr val="222222"/>
                </a:solidFill>
                <a:effectLst/>
                <a:latin typeface="Lato"/>
              </a:rPr>
            </a:br>
            <a:endParaRPr lang="ru-RU" dirty="0"/>
          </a:p>
        </p:txBody>
      </p:sp>
      <p:sp>
        <p:nvSpPr>
          <p:cNvPr id="3" name="Объект 2">
            <a:extLst>
              <a:ext uri="{FF2B5EF4-FFF2-40B4-BE49-F238E27FC236}">
                <a16:creationId xmlns:a16="http://schemas.microsoft.com/office/drawing/2014/main" id="{09ABCD59-6243-4B8D-A78C-60CE89904792}"/>
              </a:ext>
            </a:extLst>
          </p:cNvPr>
          <p:cNvSpPr>
            <a:spLocks noGrp="1"/>
          </p:cNvSpPr>
          <p:nvPr>
            <p:ph idx="1"/>
          </p:nvPr>
        </p:nvSpPr>
        <p:spPr/>
        <p:txBody>
          <a:bodyPr/>
          <a:lstStyle/>
          <a:p>
            <a:r>
              <a:rPr lang="en-US" b="0" i="1" dirty="0">
                <a:solidFill>
                  <a:srgbClr val="666666"/>
                </a:solidFill>
                <a:effectLst/>
                <a:latin typeface="Lato"/>
              </a:rPr>
              <a:t>Socrates </a:t>
            </a:r>
            <a:r>
              <a:rPr lang="en-US" b="0" i="0" dirty="0">
                <a:solidFill>
                  <a:srgbClr val="666666"/>
                </a:solidFill>
                <a:effectLst/>
                <a:latin typeface="Lato"/>
              </a:rPr>
              <a:t>continues explaining how the true philosopher must be prepared for death, which is only the separation of the soul from the body, wrap in which it is enclosed and imprisoned and that impedes access to the truth. </a:t>
            </a:r>
            <a:endParaRPr lang="ru-RU" dirty="0"/>
          </a:p>
        </p:txBody>
      </p:sp>
    </p:spTree>
    <p:extLst>
      <p:ext uri="{BB962C8B-B14F-4D97-AF65-F5344CB8AC3E}">
        <p14:creationId xmlns:p14="http://schemas.microsoft.com/office/powerpoint/2010/main" val="3231459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74B6F0-2F52-412C-B888-1D031886C729}"/>
              </a:ext>
            </a:extLst>
          </p:cNvPr>
          <p:cNvSpPr>
            <a:spLocks noGrp="1"/>
          </p:cNvSpPr>
          <p:nvPr>
            <p:ph type="title"/>
          </p:nvPr>
        </p:nvSpPr>
        <p:spPr/>
        <p:txBody>
          <a:bodyPr/>
          <a:lstStyle/>
          <a:p>
            <a:pPr algn="ctr"/>
            <a:r>
              <a:rPr lang="en-US" b="1" dirty="0"/>
              <a:t>The influence of Socrates on philosophy</a:t>
            </a:r>
            <a:endParaRPr lang="ru-RU" b="1" dirty="0"/>
          </a:p>
        </p:txBody>
      </p:sp>
      <p:pic>
        <p:nvPicPr>
          <p:cNvPr id="1026" name="Picture 2">
            <a:extLst>
              <a:ext uri="{FF2B5EF4-FFF2-40B4-BE49-F238E27FC236}">
                <a16:creationId xmlns:a16="http://schemas.microsoft.com/office/drawing/2014/main" id="{767F1146-7DDD-4A74-9705-A9AE7283AF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15154" y="1685925"/>
            <a:ext cx="4819650" cy="348615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07E68384-5BCC-4DCF-AA00-7CB7F202FC06}"/>
              </a:ext>
            </a:extLst>
          </p:cNvPr>
          <p:cNvSpPr/>
          <p:nvPr/>
        </p:nvSpPr>
        <p:spPr>
          <a:xfrm>
            <a:off x="3615154" y="5172075"/>
            <a:ext cx="4819650" cy="369332"/>
          </a:xfrm>
          <a:prstGeom prst="rect">
            <a:avLst/>
          </a:prstGeom>
        </p:spPr>
        <p:txBody>
          <a:bodyPr wrap="square">
            <a:spAutoFit/>
          </a:bodyPr>
          <a:lstStyle/>
          <a:p>
            <a:pPr algn="ctr"/>
            <a:r>
              <a:rPr lang="ru-RU" i="1" dirty="0" err="1"/>
              <a:t>The</a:t>
            </a:r>
            <a:r>
              <a:rPr lang="ru-RU" i="1" dirty="0"/>
              <a:t> </a:t>
            </a:r>
            <a:r>
              <a:rPr lang="ru-RU" i="1" dirty="0" err="1"/>
              <a:t>wise</a:t>
            </a:r>
            <a:r>
              <a:rPr lang="ru-RU" i="1" dirty="0"/>
              <a:t> </a:t>
            </a:r>
            <a:r>
              <a:rPr lang="ru-RU" i="1" dirty="0" err="1"/>
              <a:t>man</a:t>
            </a:r>
            <a:r>
              <a:rPr lang="ru-RU" i="1" dirty="0"/>
              <a:t> </a:t>
            </a:r>
            <a:r>
              <a:rPr lang="ru-RU" i="1" dirty="0" err="1"/>
              <a:t>who</a:t>
            </a:r>
            <a:r>
              <a:rPr lang="ru-RU" i="1" dirty="0"/>
              <a:t> </a:t>
            </a:r>
            <a:r>
              <a:rPr lang="ru-RU" i="1" dirty="0" err="1"/>
              <a:t>wrote</a:t>
            </a:r>
            <a:r>
              <a:rPr lang="ru-RU" i="1" dirty="0"/>
              <a:t> </a:t>
            </a:r>
            <a:r>
              <a:rPr lang="ru-RU" i="1" dirty="0" err="1"/>
              <a:t>nothing</a:t>
            </a:r>
            <a:r>
              <a:rPr lang="ru-RU" i="1" dirty="0"/>
              <a:t> </a:t>
            </a:r>
            <a:r>
              <a:rPr lang="ru-RU" i="1" dirty="0" err="1"/>
              <a:t>down</a:t>
            </a:r>
            <a:endParaRPr lang="ru-RU" i="1" dirty="0"/>
          </a:p>
        </p:txBody>
      </p:sp>
    </p:spTree>
    <p:extLst>
      <p:ext uri="{BB962C8B-B14F-4D97-AF65-F5344CB8AC3E}">
        <p14:creationId xmlns:p14="http://schemas.microsoft.com/office/powerpoint/2010/main" val="2417263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6573E-DB9E-4DB8-9A71-F602AB9ED45F}"/>
              </a:ext>
            </a:extLst>
          </p:cNvPr>
          <p:cNvSpPr>
            <a:spLocks noGrp="1"/>
          </p:cNvSpPr>
          <p:nvPr>
            <p:ph type="title"/>
          </p:nvPr>
        </p:nvSpPr>
        <p:spPr/>
        <p:txBody>
          <a:bodyPr/>
          <a:lstStyle/>
          <a:p>
            <a:pPr marL="0" marR="0">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Because of his propensity for probing others, Socrates likens himself to a horsefly. He asked some straightforward but incisive questions. Socrates' goal in using questions was to expose what individuals believed they understood or the boundaries of their knowledge. But not for payment, he would give lectures. because he asserted ignorance.</a:t>
            </a:r>
          </a:p>
        </p:txBody>
      </p:sp>
      <p:pic>
        <p:nvPicPr>
          <p:cNvPr id="1026" name="Picture 2" descr="Socrates and His Teaching - Public Seminar">
            <a:extLst>
              <a:ext uri="{FF2B5EF4-FFF2-40B4-BE49-F238E27FC236}">
                <a16:creationId xmlns:a16="http://schemas.microsoft.com/office/drawing/2014/main" id="{DC028CE8-6D46-449E-BE7E-2D12055C6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021" y="1866900"/>
            <a:ext cx="883920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051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secret philosophy of language: Searching for the origins of human  thought | Salon.com">
            <a:extLst>
              <a:ext uri="{FF2B5EF4-FFF2-40B4-BE49-F238E27FC236}">
                <a16:creationId xmlns:a16="http://schemas.microsoft.com/office/drawing/2014/main" id="{04A97B7D-8265-4E75-B018-6441EF954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 y="0"/>
            <a:ext cx="103251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91728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766</Words>
  <Application>Microsoft Office PowerPoint</Application>
  <PresentationFormat>Широкоэкранный</PresentationFormat>
  <Paragraphs>31</Paragraphs>
  <Slides>20</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20</vt:i4>
      </vt:variant>
    </vt:vector>
  </HeadingPairs>
  <TitlesOfParts>
    <vt:vector size="29" baseType="lpstr">
      <vt:lpstr>Arial</vt:lpstr>
      <vt:lpstr>Bauhaus 93</vt:lpstr>
      <vt:lpstr>Berlin Sans FB</vt:lpstr>
      <vt:lpstr>Calibri</vt:lpstr>
      <vt:lpstr>Calibri Light</vt:lpstr>
      <vt:lpstr>Georgia</vt:lpstr>
      <vt:lpstr>inherit</vt:lpstr>
      <vt:lpstr>Lato</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Socrates biorgraphy</vt:lpstr>
      <vt:lpstr>Презентация PowerPoint</vt:lpstr>
      <vt:lpstr>Презентация PowerPoint</vt:lpstr>
      <vt:lpstr>Презентация PowerPoint</vt:lpstr>
      <vt:lpstr>Philosophy</vt:lpstr>
      <vt:lpstr>Презентация PowerPoint</vt:lpstr>
      <vt:lpstr>DEATH OF SOCRATES</vt:lpstr>
      <vt:lpstr>The Death of Socrates was on a day in 399 BC. at dusk after sunset, Socrates, the wisest and best of men, hurried the glass of hemlock (a well common plant in our geographical area) that will produce death, in the presence of his close friends who desolate attend the moral fortitude with which he faces the judgment. Socrates was 70 or 71 years old. An unjust sentence, following the infamous complaints of three opportunist, envious and resentful citizens with their teacher, made in a favorable overall environment for it, killed the teacher and gave him everlasting fame that in no way could suspect his contemporaries.</vt:lpstr>
      <vt:lpstr>Презентация PowerPoint</vt:lpstr>
      <vt:lpstr>Why was Socrates condemned to die? </vt:lpstr>
      <vt:lpstr>Socrates’ spiritual reflection on death </vt:lpstr>
      <vt:lpstr>The influence of Socrates on philosophy</vt:lpstr>
      <vt:lpstr>Because of his propensity for probing others, Socrates likens himself to a horsefly. He asked some straightforward but incisive questions. Socrates' goal in using questions was to expose what individuals believed they understood or the boundaries of their knowledge. But not for payment, he would give lectures. because he asserted ignorance.</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Sergey</dc:creator>
  <cp:lastModifiedBy>Veifar io</cp:lastModifiedBy>
  <cp:revision>12</cp:revision>
  <dcterms:created xsi:type="dcterms:W3CDTF">2022-12-06T04:12:41Z</dcterms:created>
  <dcterms:modified xsi:type="dcterms:W3CDTF">2022-12-06T06:03:52Z</dcterms:modified>
</cp:coreProperties>
</file>